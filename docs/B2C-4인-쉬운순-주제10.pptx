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347472"/>
            <a:ext cx="6903720" cy="6163056"/>
          </a:xfrm>
          <a:prstGeom prst="roundRect">
            <a:avLst>
              <a:gd name="adj" fmla="val 8000"/>
            </a:avLst>
          </a:prstGeom>
          <a:solidFill>
            <a:srgbClr val="1B2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7A072"/>
                </a:solidFill>
                <a:latin typeface="Malgun Gothic"/>
                <a:ea typeface="Malgun Gothic"/>
                <a:cs typeface="Malgun Gothic"/>
              </a:rPr>
              <a:t>프로젝트 II   ·   SPRING   ·   4명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6126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D5DEE4"/>
                </a:solidFill>
                <a:latin typeface="Malgun Gothic"/>
                <a:ea typeface="Malgun Gothic"/>
                <a:cs typeface="Malgun Gothic"/>
              </a:rPr>
              <a:t>1번이 가장 쉽습니다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621792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4명이 코딩하는
B2C 주제 10개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603504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5D0D6"/>
                </a:solidFill>
                <a:latin typeface="Malgun Gothic"/>
                <a:ea typeface="Malgun Gothic"/>
                <a:cs typeface="Malgun Gothic"/>
              </a:rPr>
              <a:t>쉬운 순입니다.
관리자, 도로명 주소, 모바일, 고도화는
모든 주제에 들어갑니다.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8404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쉬운 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82296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82296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82296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카페 배달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82296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쉬움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37160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137160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원데이 클래스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137160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쉬움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192024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92024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192024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맛집 예약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192024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쉬움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2468879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2468879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468879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펫 용품몰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468879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보통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301752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301752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01752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온라인 서점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01752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보통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356616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356616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356616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꽃·식물 구독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356616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보통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80960" y="411480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0" y="411480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7" y="411480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세탁 수거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411480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보통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466344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466344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9327" y="466344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중고 장터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466344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어려움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80960" y="521208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521208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521208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스터디카페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521208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어려움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80960" y="5760720"/>
            <a:ext cx="406908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760720"/>
            <a:ext cx="53035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39327" y="5760720"/>
            <a:ext cx="219456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영화 예매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5760720"/>
            <a:ext cx="1170432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어려움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8912" y="310896"/>
            <a:ext cx="256032" cy="91440"/>
          </a:xfrm>
          <a:prstGeom prst="roundRect">
            <a:avLst>
              <a:gd name="adj" fmla="val 5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19456"/>
            <a:ext cx="91440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과목 공통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57200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주제만 바뀌고, 4명의 일은 같습니다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23444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234440"/>
            <a:ext cx="3657600" cy="91440"/>
          </a:xfrm>
          <a:prstGeom prst="rect">
            <a:avLst/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444752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설계 문서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659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추가 요구분석
DB 설계
Use Case · Sequence
기능정의서 · 화면연결도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23444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9392" y="1234440"/>
            <a:ext cx="3657600" cy="91440"/>
          </a:xfrm>
          <a:prstGeom prst="rect">
            <a:avLst/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444752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반드시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659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사용자 화면
관리자 페이지
도로명 주소 검색
모바일 브라우저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234440"/>
            <a:ext cx="365760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2" y="1234440"/>
            <a:ext cx="3657600" cy="91440"/>
          </a:xfrm>
          <a:prstGeom prst="rect">
            <a:avLst/>
          </a:prstGeom>
          <a:solidFill>
            <a:srgbClr val="2A4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5904" y="1444752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마무리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19659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고도화 1가지
테스트 130시간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" y="4069080"/>
            <a:ext cx="2761488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279392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1B2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279392"/>
            <a:ext cx="530352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315968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회원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23774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가입, 로그인
주소 검색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46704" y="4069080"/>
            <a:ext cx="2761488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29584" y="4279392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1B2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9584" y="4279392"/>
            <a:ext cx="530352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7952" y="4315968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상품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4983480"/>
            <a:ext cx="23774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메뉴, 책, 식당
클래스 등록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4496" y="4069080"/>
            <a:ext cx="2761488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37376" y="4279392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1B2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4279392"/>
            <a:ext cx="530352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95744" y="4315968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4983480"/>
            <a:ext cx="23774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주문 또는 예약
규칙 하나 검사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62288" y="4069080"/>
            <a:ext cx="2761488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45168" y="4279392"/>
            <a:ext cx="530352" cy="530352"/>
          </a:xfrm>
          <a:prstGeom prst="roundRect">
            <a:avLst>
              <a:gd name="adj" fmla="val 20000"/>
            </a:avLst>
          </a:prstGeom>
          <a:solidFill>
            <a:srgbClr val="1B2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4279392"/>
            <a:ext cx="530352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3536" y="4315968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관리자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63456" y="4983480"/>
            <a:ext cx="23774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목록, 상태 변경
고도화 1개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6547104"/>
            <a:ext cx="82296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프로젝트 II  ·  4명  ·  1번부터 고르면 됩니다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6547104"/>
            <a:ext cx="1554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2  / 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8912" y="310896"/>
            <a:ext cx="256032" cy="91440"/>
          </a:xfrm>
          <a:prstGeom prst="roundRect">
            <a:avLst>
              <a:gd name="adj" fmla="val 5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19456"/>
            <a:ext cx="91440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쉬운 순  1–5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57200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1번부터 5번, 먼저 보세요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207008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109728" cy="960120"/>
          </a:xfrm>
          <a:prstGeom prst="rect">
            <a:avLst/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07008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80160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카페 배달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280160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쉬움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609344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메뉴를 고르고, 배달 상태만 바꿉니다.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847088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회원·주소   B 메뉴   C 주문   D 관리자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2249424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249424"/>
            <a:ext cx="109728" cy="960120"/>
          </a:xfrm>
          <a:prstGeom prst="rect">
            <a:avLst/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49424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22576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원데이 클래스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322576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쉬움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651760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회차를 고르고, 정원만 넘지 않게 받습니다.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89504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   B 클래스   C 신청   D 관리자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291839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291839"/>
            <a:ext cx="109728" cy="960120"/>
          </a:xfrm>
          <a:prstGeom prst="rect">
            <a:avLst/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91839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364991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맛집 예약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364991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쉬움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694176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식당, 시간, 인원만 받으면 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931920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   B 식당   C 예약   D 관리자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" y="4334255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912" y="4334255"/>
            <a:ext cx="109728" cy="960120"/>
          </a:xfrm>
          <a:prstGeom prst="rect">
            <a:avLst/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334255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407407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펫 용품몰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4407407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보통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736592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담고 주문하면 재고가 줄어듭니다. 배송지가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974336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회원·배송지   B 상품   C 주문   D 관리자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8912" y="5376671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8912" y="5376671"/>
            <a:ext cx="109728" cy="960120"/>
          </a:xfrm>
          <a:prstGeom prst="rect">
            <a:avLst/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376671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5449823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온라인 서점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5449823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보통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5880" y="5779007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펫 용품몰과 같고, 리뷰만 더합니다.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6016751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회원·배송지   B 도서   C 주문   D 관리자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" y="6547104"/>
            <a:ext cx="82296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프로젝트 II  ·  4명  ·  1번부터 고르면 됩니다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5560" y="6547104"/>
            <a:ext cx="1554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3  / 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8912" y="310896"/>
            <a:ext cx="256032" cy="91440"/>
          </a:xfrm>
          <a:prstGeom prst="roundRect">
            <a:avLst>
              <a:gd name="adj" fmla="val 5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19456"/>
            <a:ext cx="91440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쉬운 순  6–10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57200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6번부터 10번, 그다음입니다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207008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109728" cy="960120"/>
          </a:xfrm>
          <a:prstGeom prst="rect">
            <a:avLst/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07008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280160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꽃·식물 구독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280160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보통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609344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한 번 주문이 아니라 매달 배송입니다.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847088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회원·배송지   B 플랜   C 회차   D 관리자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2249424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2249424"/>
            <a:ext cx="109728" cy="960120"/>
          </a:xfrm>
          <a:prstGeom prst="rect">
            <a:avLst/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49424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22576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세탁 수거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322576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보통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651760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수거 주소를 받고, 상태를 다음 단계로 옮깁니다.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89504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회원·주소   B 요금   C 신청   D 관리자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" y="3291839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3291839"/>
            <a:ext cx="109728" cy="960120"/>
          </a:xfrm>
          <a:prstGeom prst="rect">
            <a:avLst/>
          </a:prstGeom>
          <a:solidFill>
            <a:srgbClr val="2A4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91839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364991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중고 장터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364991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어려움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694176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파는 회원과 사는 회원이 둘 다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931920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   B 판매글   C 거래   D 관리자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" y="4334255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912" y="4334255"/>
            <a:ext cx="109728" cy="960120"/>
          </a:xfrm>
          <a:prstGeom prst="rect">
            <a:avLst/>
          </a:prstGeom>
          <a:solidFill>
            <a:srgbClr val="2A4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334255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407407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스터디카페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4407407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어려움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736592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같은 좌석, 같은 시간은 한 명만 됩니다.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974336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   B 좌석   C 예약   D 관리자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8912" y="5376671"/>
            <a:ext cx="11301984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8912" y="5376671"/>
            <a:ext cx="109728" cy="960120"/>
          </a:xfrm>
          <a:prstGeom prst="rect">
            <a:avLst/>
          </a:prstGeom>
          <a:solidFill>
            <a:srgbClr val="2A4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376671"/>
            <a:ext cx="64008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5449823"/>
            <a:ext cx="7680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영화 예매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5449823"/>
            <a:ext cx="2057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어려움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5880" y="5779007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영화, 상영시간, 좌석이 한꺼번에 연결됩니다.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6016751"/>
            <a:ext cx="100584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A 회원   B 영화   C 예매   D 관리자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" y="6547104"/>
            <a:ext cx="82296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프로젝트 II  ·  4명  ·  1번부터 고르면 됩니다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5560" y="6547104"/>
            <a:ext cx="1554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4  / 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8912" y="310896"/>
            <a:ext cx="256032" cy="91440"/>
          </a:xfrm>
          <a:prstGeom prst="roundRect">
            <a:avLst>
              <a:gd name="adj" fmla="val 5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19456"/>
            <a:ext cx="91440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4명 추천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57200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처음이면 이 세 개 중 하나입니다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" y="1234440"/>
            <a:ext cx="3657600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234440"/>
            <a:ext cx="3657600" cy="91440"/>
          </a:xfrm>
          <a:prstGeom prst="rect">
            <a:avLst/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1005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1481328"/>
            <a:ext cx="2331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카페 배달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14884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4884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2148840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회원, 로그인, 배달 주소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79192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67919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679192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메뉴와 옵션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09544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209544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주문, 접수에서 배달완료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3989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39896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3739896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주문 목록, 오늘 매출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074920"/>
            <a:ext cx="3218688" cy="86868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074920"/>
            <a:ext cx="29260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고도화  오늘 많이 팔린 메뉴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1234440"/>
            <a:ext cx="3657600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9392" y="1234440"/>
            <a:ext cx="3657600" cy="91440"/>
          </a:xfrm>
          <a:prstGeom prst="rect">
            <a:avLst/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8848" y="1444752"/>
            <a:ext cx="1005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C6B6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6672" y="1481328"/>
            <a:ext cx="2331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원데이 클래스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98848" y="214884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98848" y="214884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2148840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회원, 로그인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98848" y="2679192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8848" y="267919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92624" y="2679192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클래스와 회차, 공방 주소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8848" y="3209544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8848" y="320954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4" y="3209544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신청, 정원 초과 거절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8848" y="373989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1C6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8848" y="3739896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2624" y="3739896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회차 마감 현황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8848" y="5074920"/>
            <a:ext cx="3218688" cy="86868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5074920"/>
            <a:ext cx="29260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고도화  마감 임박 표시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19872" y="1234440"/>
            <a:ext cx="3657600" cy="4983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19872" y="1234440"/>
            <a:ext cx="3657600" cy="91440"/>
          </a:xfrm>
          <a:prstGeom prst="rect">
            <a:avLst/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39328" y="1444752"/>
            <a:ext cx="1005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7152" y="1481328"/>
            <a:ext cx="23317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펫 용품몰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39328" y="214884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9328" y="214884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33104" y="2148840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회원, 배송지 주소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39328" y="2679192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39328" y="267919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33104" y="2679192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상품, 카테고리, 재고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39328" y="3209544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39328" y="320954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33104" y="3209544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장바구니와 주문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39328" y="3739896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39328" y="3739896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33104" y="3739896"/>
            <a:ext cx="274320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주문 목록, 매출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339328" y="5074920"/>
            <a:ext cx="3218688" cy="86868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85632" y="5074920"/>
            <a:ext cx="29260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고도화  재고 부족 목록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8912" y="6547104"/>
            <a:ext cx="82296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프로젝트 II  ·  4명  ·  1번부터 고르면 됩니다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95560" y="6547104"/>
            <a:ext cx="1554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5  / 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8912" y="310896"/>
            <a:ext cx="256032" cy="91440"/>
          </a:xfrm>
          <a:prstGeom prst="roundRect">
            <a:avLst>
              <a:gd name="adj" fmla="val 50000"/>
            </a:avLst>
          </a:prstGeom>
          <a:solidFill>
            <a:srgbClr val="E06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19456"/>
            <a:ext cx="91440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06A2C"/>
                </a:solidFill>
                <a:latin typeface="Malgun Gothic"/>
                <a:ea typeface="Malgun Gothic"/>
                <a:cs typeface="Malgun Gothic"/>
              </a:rPr>
              <a:t>뒤쪽 번호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57200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8번부터는 4명이 같은 규칙을 같이 만집니다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78992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1번부터 7번은 맡은 화면이 거의 겹치지 않습니다.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1554480"/>
            <a:ext cx="11301984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554480"/>
            <a:ext cx="109728" cy="1481328"/>
          </a:xfrm>
          <a:prstGeom prst="rect">
            <a:avLst/>
          </a:prstGeom>
          <a:solidFill>
            <a:srgbClr val="2A4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554480"/>
            <a:ext cx="822960" cy="14813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755648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중고 장터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792224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회원이 두 역할입니다.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304288"/>
            <a:ext cx="960120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한 사람은 판매 글을 올리고, 다른 사람은 그 글을 삽니다. 거래 상태도 같이 바꿉니다.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" y="3163824"/>
            <a:ext cx="11301984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3163824"/>
            <a:ext cx="109728" cy="1481328"/>
          </a:xfrm>
          <a:prstGeom prst="rect">
            <a:avLst/>
          </a:prstGeom>
          <a:solidFill>
            <a:srgbClr val="2A4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163824"/>
            <a:ext cx="822960" cy="14813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364992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스터디카페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401568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좌석과 시간이 묶입니다.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913632"/>
            <a:ext cx="960120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예약할 때 이미 잡힌 자리인지 확인해야 합니다. 이 검사는 C가 만들고 D의 관리 화면과 연결됩니다.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" y="4773168"/>
            <a:ext cx="11301984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" y="4773168"/>
            <a:ext cx="109728" cy="1481328"/>
          </a:xfrm>
          <a:prstGeom prst="rect">
            <a:avLst/>
          </a:prstGeom>
          <a:solidFill>
            <a:srgbClr val="2A4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773168"/>
            <a:ext cx="822960" cy="14813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974336"/>
            <a:ext cx="5029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E3C"/>
                </a:solidFill>
                <a:latin typeface="Malgun Gothic"/>
                <a:ea typeface="Malgun Gothic"/>
                <a:cs typeface="Malgun Gothic"/>
              </a:rPr>
              <a:t>영화 예매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010912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A4C78"/>
                </a:solidFill>
                <a:latin typeface="Malgun Gothic"/>
                <a:ea typeface="Malgun Gothic"/>
                <a:cs typeface="Malgun Gothic"/>
              </a:rPr>
              <a:t>연결이 세 단계입니다.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522976"/>
            <a:ext cx="960120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C2830"/>
                </a:solidFill>
                <a:latin typeface="Malgun Gothic"/>
                <a:ea typeface="Malgun Gothic"/>
                <a:cs typeface="Malgun Gothic"/>
              </a:rPr>
              <a:t>영화 아래에 상영이 있고, 상영 아래에 좌석이 있습니다. B와 C가 같은 테이블을 자주 고칩니다.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6547104"/>
            <a:ext cx="82296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프로젝트 II  ·  4명  ·  1번부터 고르면 됩니다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6547104"/>
            <a:ext cx="1554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870"/>
                </a:solidFill>
                <a:latin typeface="Malgun Gothic"/>
                <a:ea typeface="Malgun Gothic"/>
                <a:cs typeface="Malgun Gothic"/>
              </a:rPr>
              <a:t>6  / 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4명이 코딩하는 B2C 주제 10개</dc:title>
  <dc:subject>프로젝트 II Spring Framework</dc:subject>
  <dc:creator>팀 프로젝트 가이드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